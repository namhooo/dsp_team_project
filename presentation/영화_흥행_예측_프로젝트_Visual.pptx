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8D1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영화 흥행 예측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KOBIS API와 검색 트렌드를 활용한 관객수 예측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/>
            </a:pPr>
            <a:r>
              <a:t>1. 프로젝트 개요</a:t>
            </a:r>
          </a:p>
          <a:p>
            <a:pPr>
              <a:spcAft>
                <a:spcPts val="1000"/>
              </a:spcAft>
              <a:defRPr sz="1800" b="1"/>
            </a:pPr>
            <a:r>
              <a:t>2. 데이터 수집 및 전처리</a:t>
            </a:r>
          </a:p>
          <a:p>
            <a:pPr>
              <a:spcAft>
                <a:spcPts val="1000"/>
              </a:spcAft>
              <a:defRPr sz="1800" b="1"/>
            </a:pPr>
            <a:r>
              <a:t>3. Feature Engineering</a:t>
            </a:r>
          </a:p>
          <a:p>
            <a:pPr>
              <a:spcAft>
                <a:spcPts val="1000"/>
              </a:spcAft>
              <a:defRPr sz="1800" b="1"/>
            </a:pPr>
            <a:r>
              <a:t>4. 모델링 프로세스</a:t>
            </a:r>
          </a:p>
          <a:p>
            <a:pPr>
              <a:spcAft>
                <a:spcPts val="1000"/>
              </a:spcAft>
              <a:defRPr sz="1800" b="1"/>
            </a:pPr>
            <a:r>
              <a:t>5. 실험 결과</a:t>
            </a:r>
          </a:p>
          <a:p>
            <a:pPr>
              <a:spcAft>
                <a:spcPts val="1000"/>
              </a:spcAft>
              <a:defRPr sz="1800" b="1"/>
            </a:pPr>
            <a:r>
              <a:t>6. 핵심 발견사항</a:t>
            </a:r>
          </a:p>
          <a:p>
            <a:pPr>
              <a:spcAft>
                <a:spcPts val="1000"/>
              </a:spcAft>
              <a:defRPr sz="1800" b="1"/>
            </a:pPr>
            <a:r>
              <a:t>7. 비즈니스 활용 방안</a:t>
            </a:r>
          </a:p>
          <a:p>
            <a:pPr>
              <a:spcAft>
                <a:spcPts val="1000"/>
              </a:spcAft>
              <a:defRPr sz="1800" b="1"/>
            </a:pPr>
            <a:r>
              <a:t>8. 결론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/>
            </a:pPr>
            <a:r>
              <a:t>문제 정의</a:t>
            </a:r>
          </a:p>
          <a:p>
            <a:pPr lvl="1">
              <a:spcAft>
                <a:spcPts val="1000"/>
              </a:spcAft>
              <a:defRPr sz="1800"/>
            </a:pPr>
            <a:r>
              <a:t>  • 영화 산업의 불확실성과 투자 리스크</a:t>
            </a:r>
          </a:p>
          <a:p>
            <a:pPr lvl="1">
              <a:spcAft>
                <a:spcPts val="1000"/>
              </a:spcAft>
              <a:defRPr sz="1800"/>
            </a:pPr>
            <a:r>
              <a:t>  • 개봉 전 흥행 예측의 중요성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프로젝트 목표</a:t>
            </a:r>
          </a:p>
          <a:p>
            <a:pPr lvl="1">
              <a:spcAft>
                <a:spcPts val="1000"/>
              </a:spcAft>
              <a:defRPr sz="1800"/>
            </a:pPr>
            <a:r>
              <a:t>  • 데이터 기반 관객수 예측 모델 구축</a:t>
            </a:r>
          </a:p>
          <a:p>
            <a:pPr lvl="1">
              <a:spcAft>
                <a:spcPts val="1000"/>
              </a:spcAft>
              <a:defRPr sz="1800"/>
            </a:pPr>
            <a:r>
              <a:t>  • 검색 트렌드와 영화 정보 통합 분석</a:t>
            </a:r>
          </a:p>
          <a:p>
            <a:pPr lvl="1">
              <a:spcAft>
                <a:spcPts val="1000"/>
              </a:spcAft>
              <a:defRPr sz="1800"/>
            </a:pPr>
            <a:r>
              <a:t>  • 마케팅 의사결정 지원 시스템 개발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기대 효과</a:t>
            </a:r>
          </a:p>
          <a:p>
            <a:pPr lvl="1">
              <a:spcAft>
                <a:spcPts val="1000"/>
              </a:spcAft>
              <a:defRPr sz="1800"/>
            </a:pPr>
            <a:r>
              <a:t>  • 투자 의사결정 최적화</a:t>
            </a:r>
          </a:p>
          <a:p>
            <a:pPr lvl="1">
              <a:spcAft>
                <a:spcPts val="1000"/>
              </a:spcAft>
              <a:defRPr sz="1800"/>
            </a:pPr>
            <a:r>
              <a:t>  • 마케팅 ROI 향상</a:t>
            </a:r>
          </a:p>
          <a:p>
            <a:pPr lvl="1">
              <a:spcAft>
                <a:spcPts val="1000"/>
              </a:spcAft>
              <a:defRPr sz="1800"/>
            </a:pPr>
            <a:r>
              <a:t>  • 리스크 관리 개선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📊 프로젝트 프로세스</a:t>
            </a:r>
          </a:p>
        </p:txBody>
      </p:sp>
      <p:pic>
        <p:nvPicPr>
          <p:cNvPr id="4" name="Picture 3" descr="proces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0802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데이터 수집부터 배포까지의 전체 프로세스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📁 데이터 소스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/>
            </a:pPr>
            <a:r>
              <a:t>KOBIS (영화진흥위원회) API</a:t>
            </a:r>
          </a:p>
          <a:p>
            <a:pPr lvl="1">
              <a:spcAft>
                <a:spcPts val="1000"/>
              </a:spcAft>
              <a:defRPr sz="1800"/>
            </a:pPr>
            <a:r>
              <a:t>  • 일별 박스오피스 데이터</a:t>
            </a:r>
          </a:p>
          <a:p>
            <a:pPr lvl="1">
              <a:spcAft>
                <a:spcPts val="1000"/>
              </a:spcAft>
              <a:defRPr sz="1800"/>
            </a:pPr>
            <a:r>
              <a:t>  • 영화 상세 정보 (장르, 감독, 배우, 배급사)</a:t>
            </a:r>
          </a:p>
          <a:p>
            <a:pPr lvl="1">
              <a:spcAft>
                <a:spcPts val="1000"/>
              </a:spcAft>
              <a:defRPr sz="1800"/>
            </a:pPr>
            <a:r>
              <a:t>  • 2020-2024년 데이터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Naver 검색 트렌드</a:t>
            </a:r>
          </a:p>
          <a:p>
            <a:pPr lvl="1">
              <a:spcAft>
                <a:spcPts val="1000"/>
              </a:spcAft>
              <a:defRPr sz="1800"/>
            </a:pPr>
            <a:r>
              <a:t>  • 개봉 4주 전 ~ 1주 후 검색량</a:t>
            </a:r>
          </a:p>
          <a:p>
            <a:pPr lvl="1">
              <a:spcAft>
                <a:spcPts val="1000"/>
              </a:spcAft>
              <a:defRPr sz="1800"/>
            </a:pPr>
            <a:r>
              <a:t>  • 영화별 검색 관심도 추이</a:t>
            </a:r>
          </a:p>
          <a:p>
            <a:pPr lvl="1">
              <a:spcAft>
                <a:spcPts val="1000"/>
              </a:spcAft>
              <a:defRPr sz="1800"/>
            </a:pPr>
            <a:r>
              <a:t>  • 일별 검색 비율 데이터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최종 데이터셋</a:t>
            </a:r>
          </a:p>
          <a:p>
            <a:pPr lvl="1">
              <a:spcAft>
                <a:spcPts val="1000"/>
              </a:spcAft>
              <a:defRPr sz="1800"/>
            </a:pPr>
            <a:r>
              <a:t>  • 총 534편의 영화</a:t>
            </a:r>
          </a:p>
          <a:p>
            <a:pPr lvl="1">
              <a:spcAft>
                <a:spcPts val="1000"/>
              </a:spcAft>
              <a:defRPr sz="1800"/>
            </a:pPr>
            <a:r>
              <a:t>  • 59개의 Feature 변수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📊 데이터 분석: 관객수 분포</a:t>
            </a:r>
          </a:p>
        </p:txBody>
      </p:sp>
      <p:pic>
        <p:nvPicPr>
          <p:cNvPr id="4" name="Picture 3" descr="audien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9017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영화별 관객수 분포 및 통계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🔧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/>
            </a:pPr>
            <a:r>
              <a:t>Ticket Power (창의적 특성)</a:t>
            </a:r>
          </a:p>
          <a:p>
            <a:pPr lvl="1">
              <a:spcAft>
                <a:spcPts val="1000"/>
              </a:spcAft>
              <a:defRPr sz="1800"/>
            </a:pPr>
            <a:r>
              <a:t>  • 감독/배우의 과거 평균 관객수 기반</a:t>
            </a:r>
          </a:p>
          <a:p>
            <a:pPr lvl="1">
              <a:spcAft>
                <a:spcPts val="1000"/>
              </a:spcAft>
              <a:defRPr sz="1800"/>
            </a:pPr>
            <a:r>
              <a:t>  • Ticket Power = 0.4 × 감독 + 0.6 × 배우</a:t>
            </a:r>
          </a:p>
          <a:p>
            <a:pPr lvl="1">
              <a:spcAft>
                <a:spcPts val="1000"/>
              </a:spcAft>
              <a:defRPr sz="1800"/>
            </a:pPr>
            <a:r>
              <a:t>  • 신인의 경우 전체 중앙값 사용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검색 트렌드 파생 변수</a:t>
            </a:r>
          </a:p>
          <a:p>
            <a:pPr lvl="1">
              <a:spcAft>
                <a:spcPts val="1000"/>
              </a:spcAft>
              <a:defRPr sz="1800"/>
            </a:pPr>
            <a:r>
              <a:t>  • 시점별 검색량 (4주/2주/1주 전, 개봉일)</a:t>
            </a:r>
          </a:p>
          <a:p>
            <a:pPr lvl="1">
              <a:spcAft>
                <a:spcPts val="1000"/>
              </a:spcAft>
              <a:defRPr sz="1800"/>
            </a:pPr>
            <a:r>
              <a:t>  • 검색량 증가율 및 변동성</a:t>
            </a:r>
          </a:p>
          <a:p>
            <a:pPr lvl="1">
              <a:spcAft>
                <a:spcPts val="1000"/>
              </a:spcAft>
              <a:defRPr sz="1800"/>
            </a:pPr>
            <a:r>
              <a:t>  • 최대/평균 검색량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시간/범주형 변수</a:t>
            </a:r>
          </a:p>
          <a:p>
            <a:pPr lvl="1">
              <a:spcAft>
                <a:spcPts val="1000"/>
              </a:spcAft>
              <a:defRPr sz="1800"/>
            </a:pPr>
            <a:r>
              <a:t>  • 개봉 월/분기/요일, 성수기 구분</a:t>
            </a:r>
          </a:p>
          <a:p>
            <a:pPr lvl="1">
              <a:spcAft>
                <a:spcPts val="1000"/>
              </a:spcAft>
              <a:defRPr sz="1800"/>
            </a:pPr>
            <a:r>
              <a:t>  • 장르 One-Hot Encoding (21개)</a:t>
            </a:r>
          </a:p>
          <a:p>
            <a:pPr lvl="1">
              <a:spcAft>
                <a:spcPts val="1000"/>
              </a:spcAft>
              <a:defRPr sz="1800"/>
            </a:pPr>
            <a:r>
              <a:t>  • 배급사/관람등급 인코딩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🔬 실험 세팅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/>
            </a:pPr>
            <a:r>
              <a:t>비교 모델</a:t>
            </a:r>
          </a:p>
          <a:p>
            <a:pPr lvl="1">
              <a:spcAft>
                <a:spcPts val="1000"/>
              </a:spcAft>
              <a:defRPr sz="1800"/>
            </a:pPr>
            <a:r>
              <a:t>  • Linear Regression (Baseline)</a:t>
            </a:r>
          </a:p>
          <a:p>
            <a:pPr lvl="1">
              <a:spcAft>
                <a:spcPts val="1000"/>
              </a:spcAft>
              <a:defRPr sz="1800"/>
            </a:pPr>
            <a:r>
              <a:t>  • Ridge Regression</a:t>
            </a:r>
          </a:p>
          <a:p>
            <a:pPr lvl="1">
              <a:spcAft>
                <a:spcPts val="1000"/>
              </a:spcAft>
              <a:defRPr sz="1800"/>
            </a:pPr>
            <a:r>
              <a:t>  • Random Forest</a:t>
            </a:r>
          </a:p>
          <a:p>
            <a:pPr lvl="1">
              <a:spcAft>
                <a:spcPts val="1000"/>
              </a:spcAft>
              <a:defRPr sz="1800"/>
            </a:pPr>
            <a:r>
              <a:t>  • Gradient Boosting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평가 방법</a:t>
            </a:r>
          </a:p>
          <a:p>
            <a:pPr lvl="1">
              <a:spcAft>
                <a:spcPts val="1000"/>
              </a:spcAft>
              <a:defRPr sz="1800"/>
            </a:pPr>
            <a:r>
              <a:t>  • 5-Fold Cross Validation</a:t>
            </a:r>
          </a:p>
          <a:p>
            <a:pPr lvl="1">
              <a:spcAft>
                <a:spcPts val="1000"/>
              </a:spcAft>
              <a:defRPr sz="1800"/>
            </a:pPr>
            <a:r>
              <a:t>  • Train (60%) / Validation (20%) / Test (20%)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평가 지표</a:t>
            </a:r>
          </a:p>
          <a:p>
            <a:pPr lvl="1">
              <a:spcAft>
                <a:spcPts val="1000"/>
              </a:spcAft>
              <a:defRPr sz="1800"/>
            </a:pPr>
            <a:r>
              <a:t>  • RMSE (Root Mean Squared Error)</a:t>
            </a:r>
          </a:p>
          <a:p>
            <a:pPr lvl="1">
              <a:spcAft>
                <a:spcPts val="1000"/>
              </a:spcAft>
              <a:defRPr sz="1800"/>
            </a:pPr>
            <a:r>
              <a:t>  • MAE (Mean Absolute Error)</a:t>
            </a:r>
          </a:p>
          <a:p>
            <a:pPr lvl="1">
              <a:spcAft>
                <a:spcPts val="1000"/>
              </a:spcAft>
              <a:defRPr sz="1800"/>
            </a:pPr>
            <a:r>
              <a:t>  • R² Score</a:t>
            </a:r>
          </a:p>
          <a:p>
            <a:pPr lvl="1">
              <a:spcAft>
                <a:spcPts val="1000"/>
              </a:spcAft>
              <a:defRPr sz="1800"/>
            </a:pPr>
            <a:r>
              <a:t>  • MAPE (Mean Absolute Percentage Error)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📊 모델 성능 비교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903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Validation Set 기준 모델별 성능 비교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Feature Importance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0836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예측에 가장 중요한 상위 10개 특성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핵심 발견사항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/>
            </a:pPr>
            <a:r>
              <a:t>1️⃣ 검색 트렌드의 결정적 영향</a:t>
            </a:r>
          </a:p>
          <a:p>
            <a:pPr lvl="1">
              <a:spcAft>
                <a:spcPts val="1000"/>
              </a:spcAft>
              <a:defRPr sz="1800"/>
            </a:pPr>
            <a:r>
              <a:t>  • 개봉 2주 전 검색량이 가장 강력한 예측 변수</a:t>
            </a:r>
          </a:p>
          <a:p>
            <a:pPr lvl="1">
              <a:spcAft>
                <a:spcPts val="1000"/>
              </a:spcAft>
              <a:defRPr sz="1800"/>
            </a:pPr>
            <a:r>
              <a:t>  • 검색량 증가율이 흥행 잠재력 반영</a:t>
            </a:r>
          </a:p>
          <a:p>
            <a:pPr lvl="1">
              <a:spcAft>
                <a:spcPts val="1000"/>
              </a:spcAft>
              <a:defRPr sz="1800"/>
            </a:pPr>
            <a:r>
              <a:t>  • 온라인 buzz가 실제 관객수로 전환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2️⃣ Ticket Power의 유의미한 효과</a:t>
            </a:r>
          </a:p>
          <a:p>
            <a:pPr lvl="1">
              <a:spcAft>
                <a:spcPts val="1000"/>
              </a:spcAft>
              <a:defRPr sz="1800"/>
            </a:pPr>
            <a:r>
              <a:t>  • 검증된 감독/배우의 브랜드 파워 수치화</a:t>
            </a:r>
          </a:p>
          <a:p>
            <a:pPr lvl="1">
              <a:spcAft>
                <a:spcPts val="1000"/>
              </a:spcAft>
              <a:defRPr sz="1800"/>
            </a:pPr>
            <a:r>
              <a:t>  • 배우 파워 &gt; 감독 파워 (6:4 비율)</a:t>
            </a:r>
          </a:p>
          <a:p>
            <a:pPr lvl="1">
              <a:spcAft>
                <a:spcPts val="1000"/>
              </a:spcAft>
              <a:defRPr sz="1800"/>
            </a:pPr>
            <a:r>
              <a:t>  • 신인의 경우 검색 트렌드가 더 중요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3️⃣ 시즌 및 장르 효과</a:t>
            </a:r>
          </a:p>
          <a:p>
            <a:pPr lvl="1">
              <a:spcAft>
                <a:spcPts val="1000"/>
              </a:spcAft>
              <a:defRPr sz="1800"/>
            </a:pPr>
            <a:r>
              <a:t>  • 여름(7-8월), 겨울(12-2월) 성수기 확인</a:t>
            </a:r>
          </a:p>
          <a:p>
            <a:pPr lvl="1">
              <a:spcAft>
                <a:spcPts val="1000"/>
              </a:spcAft>
              <a:defRPr sz="1800"/>
            </a:pPr>
            <a:r>
              <a:t>  • 액션, SF 장르의 높은 평균 관객수</a:t>
            </a:r>
          </a:p>
          <a:p>
            <a:pPr lvl="1">
              <a:spcAft>
                <a:spcPts val="1000"/>
              </a:spcAft>
              <a:defRPr sz="1800"/>
            </a:pPr>
            <a:r>
              <a:t>  • 주말 개봉의 긍정적 영향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💼 비즈니스 활용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/>
            </a:pPr>
            <a:r>
              <a:t>투자 의사결정</a:t>
            </a:r>
          </a:p>
          <a:p>
            <a:pPr lvl="1">
              <a:spcAft>
                <a:spcPts val="1000"/>
              </a:spcAft>
              <a:defRPr sz="1800"/>
            </a:pPr>
            <a:r>
              <a:t>  • 기획 단계 ROI 시뮬레이션</a:t>
            </a:r>
          </a:p>
          <a:p>
            <a:pPr lvl="1">
              <a:spcAft>
                <a:spcPts val="1000"/>
              </a:spcAft>
              <a:defRPr sz="1800"/>
            </a:pPr>
            <a:r>
              <a:t>  • 제작비 규모 최적화</a:t>
            </a:r>
          </a:p>
          <a:p>
            <a:pPr lvl="1">
              <a:spcAft>
                <a:spcPts val="1000"/>
              </a:spcAft>
              <a:defRPr sz="1800"/>
            </a:pPr>
            <a:r>
              <a:t>  • 포트폴리오 리스크 관리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마케팅 최적화</a:t>
            </a:r>
          </a:p>
          <a:p>
            <a:pPr lvl="1">
              <a:spcAft>
                <a:spcPts val="1000"/>
              </a:spcAft>
              <a:defRPr sz="1800"/>
            </a:pPr>
            <a:r>
              <a:t>  • 실시간 검색량 모니터링</a:t>
            </a:r>
          </a:p>
          <a:p>
            <a:pPr lvl="1">
              <a:spcAft>
                <a:spcPts val="1000"/>
              </a:spcAft>
              <a:defRPr sz="1800"/>
            </a:pPr>
            <a:r>
              <a:t>  • 개봉 2주 전 집중 투자</a:t>
            </a:r>
          </a:p>
          <a:p>
            <a:pPr lvl="1">
              <a:spcAft>
                <a:spcPts val="1000"/>
              </a:spcAft>
              <a:defRPr sz="1800"/>
            </a:pPr>
            <a:r>
              <a:t>  • 예산 배분 의사결정 지원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리스크 관리</a:t>
            </a:r>
          </a:p>
          <a:p>
            <a:pPr lvl="1">
              <a:spcAft>
                <a:spcPts val="1000"/>
              </a:spcAft>
              <a:defRPr sz="1800"/>
            </a:pPr>
            <a:r>
              <a:t>  • 조기 경보 시스템 구축</a:t>
            </a:r>
          </a:p>
          <a:p>
            <a:pPr lvl="1">
              <a:spcAft>
                <a:spcPts val="1000"/>
              </a:spcAft>
              <a:defRPr sz="1800"/>
            </a:pPr>
            <a:r>
              <a:t>  • 손익분기점 대비 예상 관객수</a:t>
            </a:r>
          </a:p>
          <a:p>
            <a:pPr lvl="1">
              <a:spcAft>
                <a:spcPts val="1000"/>
              </a:spcAft>
              <a:defRPr sz="1800"/>
            </a:pPr>
            <a:r>
              <a:t>  • 개봉 시기 조정 가능성 검토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📈 활용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/>
            </a:pPr>
            <a:r>
              <a:t>시나리오 1: 마케팅 예산 긴급 증액</a:t>
            </a:r>
          </a:p>
          <a:p>
            <a:pPr lvl="1">
              <a:spcAft>
                <a:spcPts val="1000"/>
              </a:spcAft>
              <a:defRPr sz="1800"/>
            </a:pPr>
            <a:r>
              <a:t>  • 상황: 개봉 2주 전 검색량이 목표의 60%</a:t>
            </a:r>
          </a:p>
          <a:p>
            <a:pPr lvl="1">
              <a:spcAft>
                <a:spcPts val="1000"/>
              </a:spcAft>
              <a:defRPr sz="1800"/>
            </a:pPr>
            <a:r>
              <a:t>  • 액션: 온라인 마케팅 예산 30% 증액</a:t>
            </a:r>
          </a:p>
          <a:p>
            <a:pPr lvl="1">
              <a:spcAft>
                <a:spcPts val="1000"/>
              </a:spcAft>
              <a:defRPr sz="1800"/>
            </a:pPr>
            <a:r>
              <a:t>  • 결과: 검색량 상승 → 관객수 15% 개선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시나리오 2: 투자 의사결정</a:t>
            </a:r>
          </a:p>
          <a:p>
            <a:pPr lvl="1">
              <a:spcAft>
                <a:spcPts val="1000"/>
              </a:spcAft>
              <a:defRPr sz="1800"/>
            </a:pPr>
            <a:r>
              <a:t>  • 상황: 신작 기획안 평가</a:t>
            </a:r>
          </a:p>
          <a:p>
            <a:pPr lvl="1">
              <a:spcAft>
                <a:spcPts val="1000"/>
              </a:spcAft>
              <a:defRPr sz="1800"/>
            </a:pPr>
            <a:r>
              <a:t>  • 분석: 감독 Ticket Power + 예상 장르 효과</a:t>
            </a:r>
          </a:p>
          <a:p>
            <a:pPr lvl="1">
              <a:spcAft>
                <a:spcPts val="1000"/>
              </a:spcAft>
              <a:defRPr sz="1800"/>
            </a:pPr>
            <a:r>
              <a:t>  • 결과: 예상 ROI 25% → 투자 승인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시나리오 3: 개봉 시기 조정</a:t>
            </a:r>
          </a:p>
          <a:p>
            <a:pPr lvl="1">
              <a:spcAft>
                <a:spcPts val="1000"/>
              </a:spcAft>
              <a:defRPr sz="1800"/>
            </a:pPr>
            <a:r>
              <a:t>  • 상황: 경쟁작과 동시 개봉 예정</a:t>
            </a:r>
          </a:p>
          <a:p>
            <a:pPr lvl="1">
              <a:spcAft>
                <a:spcPts val="1000"/>
              </a:spcAft>
              <a:defRPr sz="1800"/>
            </a:pPr>
            <a:r>
              <a:t>  • 분석: 예상 관객수 시뮬레이션</a:t>
            </a:r>
          </a:p>
          <a:p>
            <a:pPr lvl="1">
              <a:spcAft>
                <a:spcPts val="1000"/>
              </a:spcAft>
              <a:defRPr sz="1800"/>
            </a:pPr>
            <a:r>
              <a:t>  • 결과: 2주 연기 → 관객수 20% 증가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한계점 및 개선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/>
            </a:pPr>
            <a:r>
              <a:t>현재 한계점</a:t>
            </a:r>
          </a:p>
          <a:p>
            <a:pPr lvl="1">
              <a:spcAft>
                <a:spcPts val="1000"/>
              </a:spcAft>
              <a:defRPr sz="1800"/>
            </a:pPr>
            <a:r>
              <a:t>  • 데이터 규모 제한 (534편)</a:t>
            </a:r>
          </a:p>
          <a:p>
            <a:pPr lvl="1">
              <a:spcAft>
                <a:spcPts val="1000"/>
              </a:spcAft>
              <a:defRPr sz="1800"/>
            </a:pPr>
            <a:r>
              <a:t>  • 외부 요인 미반영 (경쟁작, 사회 이슈)</a:t>
            </a:r>
          </a:p>
          <a:p>
            <a:pPr lvl="1">
              <a:spcAft>
                <a:spcPts val="1000"/>
              </a:spcAft>
              <a:defRPr sz="1800"/>
            </a:pPr>
            <a:r>
              <a:t>  • 장기 예측의 불확실성</a:t>
            </a:r>
          </a:p>
          <a:p>
            <a:pPr lvl="1">
              <a:spcAft>
                <a:spcPts val="1000"/>
              </a:spcAft>
              <a:defRPr sz="1800"/>
            </a:pPr>
            <a:r>
              <a:t>  • 실시간 데이터 수집 자동화 부재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개선 방향</a:t>
            </a:r>
          </a:p>
          <a:p>
            <a:pPr lvl="1">
              <a:spcAft>
                <a:spcPts val="1000"/>
              </a:spcAft>
              <a:defRPr sz="1800"/>
            </a:pPr>
            <a:r>
              <a:t>  • 장기 데이터 확보 (5년 이상)</a:t>
            </a:r>
          </a:p>
          <a:p>
            <a:pPr lvl="1">
              <a:spcAft>
                <a:spcPts val="1000"/>
              </a:spcAft>
              <a:defRPr sz="1800"/>
            </a:pPr>
            <a:r>
              <a:t>  • SNS 데이터 통합 (Twitter, Instagram)</a:t>
            </a:r>
          </a:p>
          <a:p>
            <a:pPr lvl="1">
              <a:spcAft>
                <a:spcPts val="1000"/>
              </a:spcAft>
              <a:defRPr sz="1800"/>
            </a:pPr>
            <a:r>
              <a:t>  • 리뷰 감성 분석 추가</a:t>
            </a:r>
          </a:p>
          <a:p>
            <a:pPr lvl="1">
              <a:spcAft>
                <a:spcPts val="1000"/>
              </a:spcAft>
              <a:defRPr sz="1800"/>
            </a:pPr>
            <a:r>
              <a:t>  • 실시간 대시보드 구축</a:t>
            </a:r>
          </a:p>
          <a:p>
            <a:pPr lvl="1">
              <a:spcAft>
                <a:spcPts val="1000"/>
              </a:spcAft>
              <a:defRPr sz="1800"/>
            </a:pPr>
            <a:r>
              <a:t>  • API 서비스화 및 자동화</a:t>
            </a:r>
          </a:p>
          <a:p>
            <a:pPr lvl="1">
              <a:spcAft>
                <a:spcPts val="1000"/>
              </a:spcAft>
              <a:defRPr sz="1800"/>
            </a:pPr>
            <a:r>
              <a:t>  • LSTM 기반 시계열 모델 적용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D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✅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/>
            </a:pPr>
            <a:r>
              <a:t>프로젝트 성과</a:t>
            </a:r>
          </a:p>
          <a:p>
            <a:pPr lvl="1">
              <a:spcAft>
                <a:spcPts val="1000"/>
              </a:spcAft>
              <a:defRPr sz="1800"/>
            </a:pPr>
            <a:r>
              <a:t>  • 534편 영화 데이터 통합 성공</a:t>
            </a:r>
          </a:p>
          <a:p>
            <a:pPr lvl="1">
              <a:spcAft>
                <a:spcPts val="1000"/>
              </a:spcAft>
              <a:defRPr sz="1800"/>
            </a:pPr>
            <a:r>
              <a:t>  • 창의적 Feature Engineering 구현</a:t>
            </a:r>
          </a:p>
          <a:p>
            <a:pPr lvl="1">
              <a:spcAft>
                <a:spcPts val="1000"/>
              </a:spcAft>
              <a:defRPr sz="1800"/>
            </a:pPr>
            <a:r>
              <a:t>  • 실무 활용 가능한 예측 모델 구축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핵심 메시지</a:t>
            </a:r>
          </a:p>
          <a:p>
            <a:pPr lvl="1">
              <a:spcAft>
                <a:spcPts val="1000"/>
              </a:spcAft>
              <a:defRPr sz="1800"/>
            </a:pPr>
            <a:r>
              <a:t>  • 데이터가 불확실성을 줄인다</a:t>
            </a:r>
          </a:p>
          <a:p>
            <a:pPr lvl="1">
              <a:spcAft>
                <a:spcPts val="1000"/>
              </a:spcAft>
              <a:defRPr sz="1800"/>
            </a:pPr>
            <a:r>
              <a:t>  • 검색 트렌드 = 흥행의 선행 지표</a:t>
            </a:r>
          </a:p>
          <a:p>
            <a:pPr lvl="1">
              <a:spcAft>
                <a:spcPts val="1000"/>
              </a:spcAft>
              <a:defRPr sz="1800"/>
            </a:pPr>
            <a:r>
              <a:t>  • 적시 마케팅이 ROI를 극대화한다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학습 경험</a:t>
            </a:r>
          </a:p>
          <a:p>
            <a:pPr lvl="1">
              <a:spcAft>
                <a:spcPts val="1000"/>
              </a:spcAft>
              <a:defRPr sz="1800"/>
            </a:pPr>
            <a:r>
              <a:t>  • 실무 데이터 수집 및 API 활용</a:t>
            </a:r>
          </a:p>
          <a:p>
            <a:pPr lvl="1">
              <a:spcAft>
                <a:spcPts val="1000"/>
              </a:spcAft>
              <a:defRPr sz="1800"/>
            </a:pPr>
            <a:r>
              <a:t>  • 도메인 지식 기반 모델링</a:t>
            </a:r>
          </a:p>
          <a:p>
            <a:pPr lvl="1">
              <a:spcAft>
                <a:spcPts val="1000"/>
              </a:spcAft>
              <a:defRPr sz="1800"/>
            </a:pPr>
            <a:r>
              <a:t>  • End-to-End ML 프로젝트 경험</a:t>
            </a:r>
          </a:p>
          <a:p>
            <a:pPr lvl="1">
              <a:spcAft>
                <a:spcPts val="1000"/>
              </a:spcAft>
              <a:defRPr sz="1800"/>
            </a:pPr>
            <a:r>
              <a:t>  • 비즈니스 인사이트 도출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8D1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감사합니다!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