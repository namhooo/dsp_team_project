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영화 흥행 예측 모델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KOBIS API와 검색 트렌드를 활용한 관객수 예측</a:t>
            </a:r>
          </a:p>
          <a:p>
            <a:r>
              <a:t>데이터 사이언스 프로젝트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프로젝트 개요</a:t>
            </a:r>
          </a:p>
          <a:p>
            <a:pPr>
              <a:defRPr sz="1800"/>
            </a:pPr>
            <a:r>
              <a:t>2. 데이터 수집 및 전처리</a:t>
            </a:r>
          </a:p>
          <a:p>
            <a:pPr>
              <a:defRPr sz="1800"/>
            </a:pPr>
            <a:r>
              <a:t>3. Feature Engineering</a:t>
            </a:r>
          </a:p>
          <a:p>
            <a:pPr>
              <a:defRPr sz="1800"/>
            </a:pPr>
            <a:r>
              <a:t>4. 모델링 및 실험 결과</a:t>
            </a:r>
          </a:p>
          <a:p>
            <a:pPr>
              <a:defRPr sz="1800"/>
            </a:pPr>
            <a:r>
              <a:t>5. 핵심 발견사항</a:t>
            </a:r>
          </a:p>
          <a:p>
            <a:pPr>
              <a:defRPr sz="1800"/>
            </a:pPr>
            <a:r>
              <a:t>6. 비즈니스 활용 방안</a:t>
            </a:r>
          </a:p>
          <a:p>
            <a:pPr>
              <a:defRPr sz="1800"/>
            </a:pPr>
            <a:r>
              <a:t>7. 결론 및 향후 개선 방향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🎯 문제 정의</a:t>
            </a:r>
          </a:p>
          <a:p>
            <a:pPr>
              <a:defRPr sz="1800"/>
            </a:pPr>
            <a:r>
              <a:t>  • 영화 산업에서 흥행 예측은 투자 의사결정의 핵심</a:t>
            </a:r>
          </a:p>
          <a:p>
            <a:pPr>
              <a:defRPr sz="1800"/>
            </a:pPr>
            <a:r>
              <a:t>  • 개봉 전 관객수를 예측하여 마케팅 전략 수립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📊 프로젝트 목표</a:t>
            </a:r>
          </a:p>
          <a:p>
            <a:pPr>
              <a:defRPr sz="1800"/>
            </a:pPr>
            <a:r>
              <a:t>  • KOBIS API 박스오피스 데이터 수집</a:t>
            </a:r>
          </a:p>
          <a:p>
            <a:pPr>
              <a:defRPr sz="1800"/>
            </a:pPr>
            <a:r>
              <a:t>  • Naver 검색 트렌드 데이터 통합</a:t>
            </a:r>
          </a:p>
          <a:p>
            <a:pPr>
              <a:defRPr sz="1800"/>
            </a:pPr>
            <a:r>
              <a:t>  • 머신러닝 기반 총 관객수 예측 모델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소스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📁 KOBIS (영화진흥위원회) API</a:t>
            </a:r>
          </a:p>
          <a:p>
            <a:pPr>
              <a:defRPr sz="1800"/>
            </a:pPr>
            <a:r>
              <a:t>  • 일별 박스오피스 데이터</a:t>
            </a:r>
          </a:p>
          <a:p>
            <a:pPr>
              <a:defRPr sz="1800"/>
            </a:pPr>
            <a:r>
              <a:t>  • 영화 상세 정보 (장르, 감독, 배우, 배급사 등)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🔍 Naver 검색 트렌드</a:t>
            </a:r>
          </a:p>
          <a:p>
            <a:pPr>
              <a:defRPr sz="1800"/>
            </a:pPr>
            <a:r>
              <a:t>  • 개봉 4주 전 ~ 1주 후 검색량</a:t>
            </a:r>
          </a:p>
          <a:p>
            <a:pPr>
              <a:defRPr sz="1800"/>
            </a:pPr>
            <a:r>
              <a:t>  • 영화별 검색 관심도 추이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📈 최종 데이터셋</a:t>
            </a:r>
          </a:p>
          <a:p>
            <a:pPr>
              <a:defRPr sz="1800"/>
            </a:pPr>
            <a:r>
              <a:t>  • 총 534편의 영화</a:t>
            </a:r>
          </a:p>
          <a:p>
            <a:pPr>
              <a:defRPr sz="1800"/>
            </a:pPr>
            <a:r>
              <a:t>  • 59개의 Feature 변수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전처리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🔧 데이터 클리닝</a:t>
            </a:r>
          </a:p>
          <a:p>
            <a:pPr>
              <a:defRPr sz="1800"/>
            </a:pPr>
            <a:r>
              <a:t>  • 결측치 처리 (중앙값/최빈값 대체)</a:t>
            </a:r>
          </a:p>
          <a:p>
            <a:pPr>
              <a:defRPr sz="1800"/>
            </a:pPr>
            <a:r>
              <a:t>  • 이상치 탐지 및 제거 (IQR 방법)</a:t>
            </a:r>
          </a:p>
          <a:p>
            <a:pPr>
              <a:defRPr sz="1800"/>
            </a:pPr>
            <a:r>
              <a:t>  • 날짜 형식 표준화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🔄 데이터 통합</a:t>
            </a:r>
          </a:p>
          <a:p>
            <a:pPr>
              <a:defRPr sz="1800"/>
            </a:pPr>
            <a:r>
              <a:t>  • KOBIS와 검색 트렌드 데이터 병합</a:t>
            </a:r>
          </a:p>
          <a:p>
            <a:pPr>
              <a:defRPr sz="1800"/>
            </a:pPr>
            <a:r>
              <a:t>  • 영화명 기준 매칭</a:t>
            </a:r>
          </a:p>
          <a:p>
            <a:pPr>
              <a:defRPr sz="1800"/>
            </a:pPr>
            <a:r>
              <a:t>  • 시계열 데이터 정렬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🎬 Ticket Power (창의적 특성)</a:t>
            </a:r>
          </a:p>
          <a:p>
            <a:pPr>
              <a:defRPr sz="1800"/>
            </a:pPr>
            <a:r>
              <a:t>  • 감독/배우의 과거 평균 관객수</a:t>
            </a:r>
          </a:p>
          <a:p>
            <a:pPr>
              <a:defRPr sz="1800"/>
            </a:pPr>
            <a:r>
              <a:t>  • Ticket Power = 0.4 × 감독 + 0.6 × 배우</a:t>
            </a:r>
          </a:p>
          <a:p>
            <a:pPr>
              <a:defRPr sz="1800"/>
            </a:pPr>
            <a:r>
              <a:t>  • 검증된 인력의 흥행 영향력 수치화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🔍 검색 트렌드 파생 변수</a:t>
            </a:r>
          </a:p>
          <a:p>
            <a:pPr>
              <a:defRPr sz="1800"/>
            </a:pPr>
            <a:r>
              <a:t>  • 개봉 4주/2주/1주 전 검색량</a:t>
            </a:r>
          </a:p>
          <a:p>
            <a:pPr>
              <a:defRPr sz="1800"/>
            </a:pPr>
            <a:r>
              <a:t>  • 개봉일 검색량</a:t>
            </a:r>
          </a:p>
          <a:p>
            <a:pPr>
              <a:defRPr sz="1800"/>
            </a:pPr>
            <a:r>
              <a:t>  • 최대 검색량, 평균, 변동성</a:t>
            </a:r>
          </a:p>
          <a:p>
            <a:pPr>
              <a:defRPr sz="1800"/>
            </a:pPr>
            <a:r>
              <a:t>  • 검색량 증가율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📅 시간 기반 변수</a:t>
            </a:r>
          </a:p>
          <a:p>
            <a:pPr>
              <a:defRPr sz="1800"/>
            </a:pPr>
            <a:r>
              <a:t>  • 개봉 월, 분기, 요일</a:t>
            </a:r>
          </a:p>
          <a:p>
            <a:pPr>
              <a:defRPr sz="1800"/>
            </a:pPr>
            <a:r>
              <a:t>  • 성수기 구분 (여름/겨울/봄/가을)</a:t>
            </a:r>
          </a:p>
          <a:p>
            <a:pPr>
              <a:defRPr sz="1800"/>
            </a:pPr>
            <a:r>
              <a:t>  • 주말 개봉 여부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🎭 범주형 변수 인코딩</a:t>
            </a:r>
          </a:p>
          <a:p>
            <a:pPr>
              <a:defRPr sz="1800"/>
            </a:pPr>
            <a:r>
              <a:t>  • 장르 One-Hot Encoding (21개 장르)</a:t>
            </a:r>
          </a:p>
          <a:p>
            <a:pPr>
              <a:defRPr sz="1800"/>
            </a:pPr>
            <a:r>
              <a:t>  • 배급사 Frequency Encoding</a:t>
            </a:r>
          </a:p>
          <a:p>
            <a:pPr>
              <a:defRPr sz="1800"/>
            </a:pPr>
            <a:r>
              <a:t>  • 관람등급 처리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 세팅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🔬 모델 비교</a:t>
            </a:r>
          </a:p>
          <a:p>
            <a:pPr>
              <a:defRPr sz="1800"/>
            </a:pPr>
            <a:r>
              <a:t>  • Linear Regression (Baseline)</a:t>
            </a:r>
          </a:p>
          <a:p>
            <a:pPr>
              <a:defRPr sz="1800"/>
            </a:pPr>
            <a:r>
              <a:t>  • Ridge Regression</a:t>
            </a:r>
          </a:p>
          <a:p>
            <a:pPr>
              <a:defRPr sz="1800"/>
            </a:pPr>
            <a:r>
              <a:t>  • Random Forest</a:t>
            </a:r>
          </a:p>
          <a:p>
            <a:pPr>
              <a:defRPr sz="1800"/>
            </a:pPr>
            <a:r>
              <a:t>  • Gradient Boosting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📊 평가 방법</a:t>
            </a:r>
          </a:p>
          <a:p>
            <a:pPr>
              <a:defRPr sz="1800"/>
            </a:pPr>
            <a:r>
              <a:t>  • 5-Fold Cross Validation</a:t>
            </a:r>
          </a:p>
          <a:p>
            <a:pPr>
              <a:defRPr sz="1800"/>
            </a:pPr>
            <a:r>
              <a:t>  • Train / Validation / Test 분할</a:t>
            </a:r>
          </a:p>
          <a:p>
            <a:pPr>
              <a:defRPr sz="1800"/>
            </a:pPr>
            <a:r>
              <a:t>  • 평가 지표: RMSE, MAE, R², MAPE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모델 성능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📊 Validation Set 성능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  • Random Forest (기본): R²=0.675, RMSE=983,833</a:t>
            </a:r>
          </a:p>
          <a:p>
            <a:pPr>
              <a:defRPr sz="1800"/>
            </a:pPr>
            <a:r>
              <a:t>  • Gradient Boosting (기본): R²=0.655, RMSE=1,013,134</a:t>
            </a:r>
          </a:p>
          <a:p>
            <a:pPr>
              <a:defRPr sz="1800"/>
            </a:pPr>
            <a:r>
              <a:t>  • Tuned Random Forest: R²=0.569, RMSE=1,132,443</a:t>
            </a:r>
          </a:p>
          <a:p>
            <a:pPr>
              <a:defRPr sz="1800"/>
            </a:pPr>
            <a:r>
              <a:t>  • Tuned Gradient Boosting: R²=0.505, RMSE=1,213,592</a:t>
            </a:r>
          </a:p>
          <a:p>
            <a:pPr>
              <a:defRPr sz="1800"/>
            </a:pPr>
            <a:r>
              <a:t>  • Ridge: R²=0.354, RMSE=1,386,512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🏆 최종 선정 모델: Random Forest (기본)</a:t>
            </a:r>
          </a:p>
          <a:p>
            <a:pPr>
              <a:defRPr sz="1800"/>
            </a:pPr>
            <a:r>
              <a:t>  • R² = 0.675</a:t>
            </a:r>
          </a:p>
          <a:p>
            <a:pPr>
              <a:defRPr sz="1800"/>
            </a:pPr>
            <a:r>
              <a:t>  • RMSE = 983,833 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🎯 상위 10개 중요 Feature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   1. avg_search: 0.3232</a:t>
            </a:r>
          </a:p>
          <a:p>
            <a:pPr>
              <a:defRPr sz="1800"/>
            </a:pPr>
            <a:r>
              <a:t>   2. search_2w_before: 0.2157</a:t>
            </a:r>
          </a:p>
          <a:p>
            <a:pPr>
              <a:defRPr sz="1800"/>
            </a:pPr>
            <a:r>
              <a:t>   3. director_power: 0.0967</a:t>
            </a:r>
          </a:p>
          <a:p>
            <a:pPr>
              <a:defRPr sz="1800"/>
            </a:pPr>
            <a:r>
              <a:t>   4. search_1w_after: 0.0531</a:t>
            </a:r>
          </a:p>
          <a:p>
            <a:pPr>
              <a:defRPr sz="1800"/>
            </a:pPr>
            <a:r>
              <a:t>   5. ticket_power: 0.0474</a:t>
            </a:r>
          </a:p>
          <a:p>
            <a:pPr>
              <a:defRPr sz="1800"/>
            </a:pPr>
            <a:r>
              <a:t>   6. search_1w_before: 0.0386</a:t>
            </a:r>
          </a:p>
          <a:p>
            <a:pPr>
              <a:defRPr sz="1800"/>
            </a:pPr>
            <a:r>
              <a:t>   7. release_dayofweek: 0.0256</a:t>
            </a:r>
          </a:p>
          <a:p>
            <a:pPr>
              <a:defRPr sz="1800"/>
            </a:pPr>
            <a:r>
              <a:t>   8. genre_가족: 0.0245</a:t>
            </a:r>
          </a:p>
          <a:p>
            <a:pPr>
              <a:defRPr sz="1800"/>
            </a:pPr>
            <a:r>
              <a:t>   9. distributor_target: 0.0187</a:t>
            </a:r>
          </a:p>
          <a:p>
            <a:pPr>
              <a:defRPr sz="1800"/>
            </a:pPr>
            <a:r>
              <a:t>  10. actor_power: 0.0156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발견사항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1️⃣ 검색 트렌드의 중요성</a:t>
            </a:r>
          </a:p>
          <a:p>
            <a:pPr>
              <a:defRPr sz="1800"/>
            </a:pPr>
            <a:r>
              <a:t>  • 개봉 2주 전 검색량이 핵심 예측 변수</a:t>
            </a:r>
          </a:p>
          <a:p>
            <a:pPr>
              <a:defRPr sz="1800"/>
            </a:pPr>
            <a:r>
              <a:t>  • 검색량 증가율이 흥행 잠재력 반영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2️⃣ Ticket Power 효과</a:t>
            </a:r>
          </a:p>
          <a:p>
            <a:pPr>
              <a:defRPr sz="1800"/>
            </a:pPr>
            <a:r>
              <a:t>  • 검증된 감독/배우의 영향력 수치화</a:t>
            </a:r>
          </a:p>
          <a:p>
            <a:pPr>
              <a:defRPr sz="1800"/>
            </a:pPr>
            <a:r>
              <a:t>  • 배우 파워가 감독 파워보다 약간 더 중요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3️⃣ 시즌 및 장르 효과</a:t>
            </a:r>
          </a:p>
          <a:p>
            <a:pPr>
              <a:defRPr sz="1800"/>
            </a:pPr>
            <a:r>
              <a:t>  • 여름(7-8월), 겨울(12-2월) 성수기 확인</a:t>
            </a:r>
          </a:p>
          <a:p>
            <a:pPr>
              <a:defRPr sz="1800"/>
            </a:pPr>
            <a:r>
              <a:t>  • 특정 장르의 흥행 우위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비즈니스 활용 방안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💰 투자 의사결정</a:t>
            </a:r>
          </a:p>
          <a:p>
            <a:pPr>
              <a:defRPr sz="1800"/>
            </a:pPr>
            <a:r>
              <a:t>  • 기획 단계 예상 관객수 시뮬레이션</a:t>
            </a:r>
          </a:p>
          <a:p>
            <a:pPr>
              <a:defRPr sz="1800"/>
            </a:pPr>
            <a:r>
              <a:t>  • ROI 예측 및 제작비 규모 결정</a:t>
            </a:r>
          </a:p>
          <a:p>
            <a:pPr>
              <a:defRPr sz="1800"/>
            </a:pPr>
            <a:r>
              <a:t>  • 투자 리스크 평가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📢 마케팅 최적화</a:t>
            </a:r>
          </a:p>
          <a:p>
            <a:pPr>
              <a:defRPr sz="1800"/>
            </a:pPr>
            <a:r>
              <a:t>  • 개봉 2주 전 검색량 모니터링</a:t>
            </a:r>
          </a:p>
          <a:p>
            <a:pPr>
              <a:defRPr sz="1800"/>
            </a:pPr>
            <a:r>
              <a:t>  • 예상보다 낮을 시 마케팅 예산 증액</a:t>
            </a:r>
          </a:p>
          <a:p>
            <a:pPr>
              <a:defRPr sz="1800"/>
            </a:pPr>
            <a:r>
              <a:t>  • SNS/온라인 바이럴 마케팅 강화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비즈니스 활용 방안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⚠️ 리스크 관리</a:t>
            </a:r>
          </a:p>
          <a:p>
            <a:pPr>
              <a:defRPr sz="1800"/>
            </a:pPr>
            <a:r>
              <a:t>  • 실시간 검색 트렌드 추적</a:t>
            </a:r>
          </a:p>
          <a:p>
            <a:pPr>
              <a:defRPr sz="1800"/>
            </a:pPr>
            <a:r>
              <a:t>  • 예상 관객수 vs 손익분기점 비교</a:t>
            </a:r>
          </a:p>
          <a:p>
            <a:pPr>
              <a:defRPr sz="1800"/>
            </a:pPr>
            <a:r>
              <a:t>  • 필요시 개봉 시기 조정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🎬 기획 단계 활용</a:t>
            </a:r>
          </a:p>
          <a:p>
            <a:pPr>
              <a:defRPr sz="1800"/>
            </a:pPr>
            <a:r>
              <a:t>  • 최적 감독/배우 조합 탐색</a:t>
            </a:r>
          </a:p>
          <a:p>
            <a:pPr>
              <a:defRPr sz="1800"/>
            </a:pPr>
            <a:r>
              <a:t>  • 장르 및 개봉 시기 최적화</a:t>
            </a:r>
          </a:p>
          <a:p>
            <a:pPr>
              <a:defRPr sz="1800"/>
            </a:pPr>
            <a:r>
              <a:t>  • 경쟁작 분석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한계점 및 개선 방향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⚠️ 한계점</a:t>
            </a:r>
          </a:p>
          <a:p>
            <a:pPr>
              <a:defRPr sz="1800"/>
            </a:pPr>
            <a:r>
              <a:t>  • 데이터 크기 제한 (534편)</a:t>
            </a:r>
          </a:p>
          <a:p>
            <a:pPr>
              <a:defRPr sz="1800"/>
            </a:pPr>
            <a:r>
              <a:t>  • 외부 요인 미반영 (경쟁작, 사회 이슈 등)</a:t>
            </a:r>
          </a:p>
          <a:p>
            <a:pPr>
              <a:defRPr sz="1800"/>
            </a:pPr>
            <a:r>
              <a:t>  • 장기 예측의 불확실성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🚀 개선 방향</a:t>
            </a:r>
          </a:p>
          <a:p>
            <a:pPr>
              <a:defRPr sz="1800"/>
            </a:pPr>
            <a:r>
              <a:t>  • 장기 데이터 수집 (5년 이상)</a:t>
            </a:r>
          </a:p>
          <a:p>
            <a:pPr>
              <a:defRPr sz="1800"/>
            </a:pPr>
            <a:r>
              <a:t>  • SNS 데이터 추가 (Twitter, Instagram)</a:t>
            </a:r>
          </a:p>
          <a:p>
            <a:pPr>
              <a:defRPr sz="1800"/>
            </a:pPr>
            <a:r>
              <a:t>  • 감성 분석 (리뷰, 댓글)</a:t>
            </a:r>
          </a:p>
          <a:p>
            <a:pPr>
              <a:defRPr sz="1800"/>
            </a:pPr>
            <a:r>
              <a:t>  • 실시간 대시보드 구축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프로젝트 성과</a:t>
            </a:r>
          </a:p>
          <a:p>
            <a:pPr>
              <a:defRPr sz="1800"/>
            </a:pPr>
            <a:r>
              <a:t>  • 534편 영화 데이터 수집 및 통합 성공</a:t>
            </a:r>
          </a:p>
          <a:p>
            <a:pPr>
              <a:defRPr sz="1800"/>
            </a:pPr>
            <a:r>
              <a:t>  • 창의적 Feature Engineering (Ticket Power)</a:t>
            </a:r>
          </a:p>
          <a:p>
            <a:pPr>
              <a:defRPr sz="1800"/>
            </a:pPr>
            <a:r>
              <a:t>  • 실무 활용 가능한 예측 모델 구축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💡 핵심 메시지</a:t>
            </a:r>
          </a:p>
          <a:p>
            <a:pPr>
              <a:defRPr sz="1800"/>
            </a:pPr>
            <a:r>
              <a:t>  • 데이터 기반 의사결정이 불확실성 감소</a:t>
            </a:r>
          </a:p>
          <a:p>
            <a:pPr>
              <a:defRPr sz="1800"/>
            </a:pPr>
            <a:r>
              <a:t>  • 검색 트렌드 = 흥행 예측의 핵심 지표</a:t>
            </a:r>
          </a:p>
          <a:p>
            <a:pPr>
              <a:defRPr sz="1800"/>
            </a:pPr>
            <a:r>
              <a:t>  • 적절한 마케팅 투자로 ROI 극대화 가능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🎓 학습 경험</a:t>
            </a:r>
          </a:p>
          <a:p>
            <a:pPr>
              <a:defRPr sz="1800"/>
            </a:pPr>
            <a:r>
              <a:t>  • 실무 데이터 수집 및 API 활용</a:t>
            </a:r>
          </a:p>
          <a:p>
            <a:pPr>
              <a:defRPr sz="1800"/>
            </a:pPr>
            <a:r>
              <a:t>  • 도메인 지식 기반 모델링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감사합니다!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